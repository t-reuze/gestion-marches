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100"/>
    <p:sldId id="257" r:id="rId101"/>
    <p:sldId id="258" r:id="rId102"/>
    <p:sldId id="259" r:id="rId103"/>
    <p:sldId id="260" r:id="rId104"/>
    <p:sldId id="261" r:id="rId105"/>
    <p:sldId id="262" r:id="rId106"/>
    <p:sldId id="263" r:id="rId107"/>
    <p:sldId id="264" r:id="rId108"/>
    <p:sldId id="265" r:id="rId109"/>
    <p:sldId id="266" r:id="rId110"/>
    <p:sldId id="267" r:id="rId111"/>
    <p:sldId id="268" r:id="rId112"/>
    <p:sldId id="269" r:id="rId113"/>
    <p:sldId id="270" r:id="rId114"/>
    <p:sldId id="271" r:id="rId115"/>
    <p:sldId id="272" r:id="rId116"/>
    <p:sldId id="273" r:id="rId117"/>
    <p:sldId id="274" r:id="rId118"/>
    <p:sldId id="275" r:id="rId119"/>
    <p:sldId id="276" r:id="rId120"/>
    <p:sldId id="277" r:id="rId121"/>
    <p:sldId id="278" r:id="rId12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3634">
          <p15:clr>
            <a:srgbClr val="A4A3A4"/>
          </p15:clr>
        </p15:guide>
        <p15:guide id="4" orient="horz" pos="1049">
          <p15:clr>
            <a:srgbClr val="A4A3A4"/>
          </p15:clr>
        </p15:guide>
        <p15:guide id="6" pos="56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3728"/>
    <a:srgbClr val="415364"/>
    <a:srgbClr val="EA560D"/>
    <a:srgbClr val="F8F7F6"/>
    <a:srgbClr val="E50069"/>
    <a:srgbClr val="AD0470"/>
    <a:srgbClr val="F0F2F4"/>
    <a:srgbClr val="E7EDF2"/>
    <a:srgbClr val="D2DCE5"/>
    <a:srgbClr val="A5B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8" autoAdjust="0"/>
    <p:restoredTop sz="74970" autoAdjust="0"/>
  </p:normalViewPr>
  <p:slideViewPr>
    <p:cSldViewPr snapToObjects="1" showGuides="1">
      <p:cViewPr varScale="1">
        <p:scale>
          <a:sx n="63" d="100"/>
          <a:sy n="63" d="100"/>
        </p:scale>
        <p:origin x="2059" y="62"/>
      </p:cViewPr>
      <p:guideLst>
        <p:guide orient="horz" pos="2160"/>
        <p:guide pos="2880"/>
        <p:guide orient="horz" pos="3634"/>
        <p:guide orient="horz" pos="1049"/>
        <p:guide pos="56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92" d="100"/>
          <a:sy n="92" d="100"/>
        </p:scale>
        <p:origin x="4042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Relationship Id="rId115" Type="http://schemas.openxmlformats.org/officeDocument/2006/relationships/slide" Target="slides/slide16.xml"/><Relationship Id="rId116" Type="http://schemas.openxmlformats.org/officeDocument/2006/relationships/slide" Target="slides/slide17.xml"/><Relationship Id="rId117" Type="http://schemas.openxmlformats.org/officeDocument/2006/relationships/slide" Target="slides/slide18.xml"/><Relationship Id="rId118" Type="http://schemas.openxmlformats.org/officeDocument/2006/relationships/slide" Target="slides/slide19.xml"/><Relationship Id="rId119" Type="http://schemas.openxmlformats.org/officeDocument/2006/relationships/slide" Target="slides/slide20.xml"/><Relationship Id="rId120" Type="http://schemas.openxmlformats.org/officeDocument/2006/relationships/slide" Target="slides/slide21.xml"/><Relationship Id="rId121" Type="http://schemas.openxmlformats.org/officeDocument/2006/relationships/slide" Target="slides/slide22.xml"/><Relationship Id="rId122" Type="http://schemas.openxmlformats.org/officeDocument/2006/relationships/slide" Target="slides/slide2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8070D-93EE-47AB-BA9D-733DE02448EC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BFA36-E87F-4EAD-B742-01CF0C4288E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47554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2FBC27-40FF-47D3-BB26-D78195A335E0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2CE24-0D05-48D6-86B4-02A631FD19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76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position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9050">
            <a:solidFill>
              <a:srgbClr val="EA56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 sz="1400" dirty="0"/>
          </a:p>
        </p:txBody>
      </p:sp>
      <p:sp>
        <p:nvSpPr>
          <p:cNvPr id="12" name="Organigramme : Entrée manuelle 11">
            <a:extLst>
              <a:ext uri="{FF2B5EF4-FFF2-40B4-BE49-F238E27FC236}">
                <a16:creationId xmlns:a16="http://schemas.microsoft.com/office/drawing/2014/main" id="{28353ABD-C317-4BC6-93B5-B1F7118DF0DC}"/>
              </a:ext>
            </a:extLst>
          </p:cNvPr>
          <p:cNvSpPr/>
          <p:nvPr userDrawn="1"/>
        </p:nvSpPr>
        <p:spPr>
          <a:xfrm flipH="1" flipV="1">
            <a:off x="-6" y="-1"/>
            <a:ext cx="9144000" cy="5346731"/>
          </a:xfrm>
          <a:prstGeom prst="flowChartManualInpu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409" y="980728"/>
            <a:ext cx="3580982" cy="1551144"/>
          </a:xfrm>
          <a:prstGeom prst="rect">
            <a:avLst/>
          </a:prstGeom>
        </p:spPr>
      </p:pic>
      <p:sp>
        <p:nvSpPr>
          <p:cNvPr id="5" name="Titre 1"/>
          <p:cNvSpPr>
            <a:spLocks noGrp="1"/>
          </p:cNvSpPr>
          <p:nvPr>
            <p:ph type="ctrTitle" hasCustomPrompt="1"/>
          </p:nvPr>
        </p:nvSpPr>
        <p:spPr>
          <a:xfrm>
            <a:off x="1834305" y="3140968"/>
            <a:ext cx="5545311" cy="1080000"/>
          </a:xfrm>
          <a:prstGeom prst="rect">
            <a:avLst/>
          </a:prstGeom>
        </p:spPr>
        <p:txBody>
          <a:bodyPr anchor="t" anchorCtr="0"/>
          <a:lstStyle>
            <a:lvl1pPr algn="ctr">
              <a:defRPr sz="4000">
                <a:solidFill>
                  <a:srgbClr val="415364"/>
                </a:solidFill>
              </a:defRPr>
            </a:lvl1pPr>
          </a:lstStyle>
          <a:p>
            <a:r>
              <a:rPr lang="fr-FR" dirty="0"/>
              <a:t>Titre en Ubuntu</a:t>
            </a:r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1" hasCustomPrompt="1"/>
          </p:nvPr>
        </p:nvSpPr>
        <p:spPr>
          <a:xfrm>
            <a:off x="1835175" y="4283242"/>
            <a:ext cx="5545137" cy="1089974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2500" b="1">
                <a:solidFill>
                  <a:srgbClr val="EA560D"/>
                </a:solidFill>
              </a:defRPr>
            </a:lvl1pPr>
          </a:lstStyle>
          <a:p>
            <a:pPr lvl="0"/>
            <a:r>
              <a:rPr lang="fr-FR" dirty="0"/>
              <a:t>Texte en Ubuntu</a:t>
            </a:r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3300900" y="5436568"/>
            <a:ext cx="2520000" cy="21544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FontTx/>
              <a:buNone/>
              <a:defRPr sz="1200" b="1" baseline="0">
                <a:solidFill>
                  <a:srgbClr val="415364"/>
                </a:solidFill>
              </a:defRPr>
            </a:lvl1pPr>
            <a:lvl2pPr marL="0" indent="0">
              <a:spcBef>
                <a:spcPts val="300"/>
              </a:spcBef>
              <a:buNone/>
              <a:defRPr baseline="0"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 baseline="0">
                <a:solidFill>
                  <a:srgbClr val="FFFFFF"/>
                </a:solidFill>
              </a:defRPr>
            </a:lvl5pPr>
          </a:lstStyle>
          <a:p>
            <a:pPr lvl="0"/>
            <a:r>
              <a:rPr lang="fr-FR" dirty="0"/>
              <a:t>Nom de l’intervenant</a:t>
            </a:r>
          </a:p>
        </p:txBody>
      </p:sp>
      <p:sp>
        <p:nvSpPr>
          <p:cNvPr id="10" name="Espace réservé du texte 8"/>
          <p:cNvSpPr>
            <a:spLocks noGrp="1"/>
          </p:cNvSpPr>
          <p:nvPr>
            <p:ph type="body" sz="quarter" idx="16" hasCustomPrompt="1"/>
          </p:nvPr>
        </p:nvSpPr>
        <p:spPr>
          <a:xfrm>
            <a:off x="3300900" y="5700224"/>
            <a:ext cx="2520000" cy="215444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ctr">
              <a:buFontTx/>
              <a:buNone/>
              <a:defRPr sz="1200" b="0" baseline="0">
                <a:solidFill>
                  <a:srgbClr val="415364"/>
                </a:solidFill>
              </a:defRPr>
            </a:lvl1pPr>
            <a:lvl2pPr marL="0" indent="0">
              <a:spcBef>
                <a:spcPts val="300"/>
              </a:spcBef>
              <a:buNone/>
              <a:defRPr baseline="0"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 baseline="0">
                <a:solidFill>
                  <a:srgbClr val="FFFFFF"/>
                </a:solidFill>
              </a:defRPr>
            </a:lvl5pPr>
          </a:lstStyle>
          <a:p>
            <a:pPr lvl="0"/>
            <a:r>
              <a:rPr lang="fr-FR" dirty="0"/>
              <a:t>Direction / Département</a:t>
            </a:r>
          </a:p>
        </p:txBody>
      </p:sp>
      <p:sp>
        <p:nvSpPr>
          <p:cNvPr id="11" name="Espace réservé du contenu 2"/>
          <p:cNvSpPr>
            <a:spLocks noGrp="1"/>
          </p:cNvSpPr>
          <p:nvPr>
            <p:ph sz="quarter" idx="17" hasCustomPrompt="1"/>
          </p:nvPr>
        </p:nvSpPr>
        <p:spPr>
          <a:xfrm>
            <a:off x="3300900" y="6005505"/>
            <a:ext cx="2520000" cy="198775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lang="fr-FR" sz="1000" b="0" kern="1200" baseline="0" dirty="0">
                <a:solidFill>
                  <a:schemeClr val="accent1"/>
                </a:solidFill>
                <a:latin typeface="Ubuntu" panose="020B0504030602030204"/>
                <a:ea typeface="+mn-ea"/>
                <a:cs typeface="+mn-cs"/>
              </a:defRPr>
            </a:lvl1pPr>
          </a:lstStyle>
          <a:p>
            <a:pPr marL="0" lv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fr-FR" dirty="0"/>
              <a:t>Date – Réunion :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E692E7-60C0-490C-9E27-4E8CD116F15B}"/>
              </a:ext>
            </a:extLst>
          </p:cNvPr>
          <p:cNvSpPr/>
          <p:nvPr userDrawn="1"/>
        </p:nvSpPr>
        <p:spPr>
          <a:xfrm>
            <a:off x="0" y="0"/>
            <a:ext cx="9143994" cy="6858000"/>
          </a:xfrm>
          <a:prstGeom prst="rect">
            <a:avLst/>
          </a:prstGeom>
          <a:noFill/>
          <a:ln w="19050">
            <a:solidFill>
              <a:srgbClr val="EA560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40283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EB8A826E-3970-99A8-EF79-233C1E6C48FB}"/>
              </a:ext>
            </a:extLst>
          </p:cNvPr>
          <p:cNvPicPr/>
          <p:nvPr userDrawn="1"/>
        </p:nvPicPr>
        <p:blipFill rotWithShape="1">
          <a:blip r:embed="rId2" cstate="print"/>
          <a:srcRect t="13608"/>
          <a:stretch/>
        </p:blipFill>
        <p:spPr>
          <a:xfrm>
            <a:off x="611186" y="1700808"/>
            <a:ext cx="7921254" cy="4114328"/>
          </a:xfrm>
          <a:prstGeom prst="rect">
            <a:avLst/>
          </a:prstGeom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3943A109-361B-1649-97BF-5E25EC7246B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9592" y="3099404"/>
            <a:ext cx="5545311" cy="506889"/>
          </a:xfrm>
          <a:prstGeom prst="rect">
            <a:avLst/>
          </a:prstGeom>
        </p:spPr>
        <p:txBody>
          <a:bodyPr anchor="t" anchorCtr="0"/>
          <a:lstStyle>
            <a:lvl1pPr algn="l">
              <a:defRPr sz="3200">
                <a:solidFill>
                  <a:srgbClr val="415364"/>
                </a:solidFill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7" name="Espace réservé du texte 5">
            <a:extLst>
              <a:ext uri="{FF2B5EF4-FFF2-40B4-BE49-F238E27FC236}">
                <a16:creationId xmlns:a16="http://schemas.microsoft.com/office/drawing/2014/main" id="{EDEBFD48-0FB6-6B40-977D-E947274C8FB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9767" y="3680693"/>
            <a:ext cx="5545137" cy="12604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EA560D"/>
                </a:solidFill>
              </a:defRPr>
            </a:lvl1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F8B73F-7DB4-217C-360B-1516BA6D373C}"/>
              </a:ext>
            </a:extLst>
          </p:cNvPr>
          <p:cNvSpPr/>
          <p:nvPr userDrawn="1"/>
        </p:nvSpPr>
        <p:spPr>
          <a:xfrm>
            <a:off x="8208404" y="5665824"/>
            <a:ext cx="504056" cy="298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 sz="14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578FE8-FAD2-9965-6613-0EF18D1CBF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309" b="86918"/>
          <a:stretch/>
        </p:blipFill>
        <p:spPr>
          <a:xfrm>
            <a:off x="319722" y="689156"/>
            <a:ext cx="8504556" cy="651612"/>
          </a:xfrm>
          <a:prstGeom prst="rect">
            <a:avLst/>
          </a:prstGeom>
        </p:spPr>
      </p:pic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1C21334E-258E-6994-7675-341CEA80F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32040" y="6307051"/>
            <a:ext cx="3240000" cy="153888"/>
          </a:xfrm>
          <a:prstGeom prst="rect">
            <a:avLst/>
          </a:prstGeom>
        </p:spPr>
        <p:txBody>
          <a:bodyPr vert="horz" wrap="square" lIns="36000" tIns="0" rIns="36000" bIns="0" rtlCol="0" anchor="ctr">
            <a:noAutofit/>
          </a:bodyPr>
          <a:lstStyle>
            <a:lvl1pPr algn="r">
              <a:defRPr sz="1000" b="0">
                <a:solidFill>
                  <a:schemeClr val="accent1"/>
                </a:solidFill>
                <a:latin typeface="Ubuntu" panose="020B0504030602030204"/>
              </a:defRPr>
            </a:lvl1pPr>
          </a:lstStyle>
          <a:p>
            <a:r>
              <a:rPr lang="fr-FR" dirty="0"/>
              <a:t>Date — Direction / Département</a:t>
            </a:r>
          </a:p>
        </p:txBody>
      </p:sp>
    </p:spTree>
    <p:extLst>
      <p:ext uri="{BB962C8B-B14F-4D97-AF65-F5344CB8AC3E}">
        <p14:creationId xmlns:p14="http://schemas.microsoft.com/office/powerpoint/2010/main" val="316322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">
            <a:extLst>
              <a:ext uri="{FF2B5EF4-FFF2-40B4-BE49-F238E27FC236}">
                <a16:creationId xmlns:a16="http://schemas.microsoft.com/office/drawing/2014/main" id="{8343C66D-BEF9-5EA3-73E1-F5AF8088955F}"/>
              </a:ext>
            </a:extLst>
          </p:cNvPr>
          <p:cNvPicPr/>
          <p:nvPr userDrawn="1"/>
        </p:nvPicPr>
        <p:blipFill rotWithShape="1">
          <a:blip r:embed="rId2" cstate="print"/>
          <a:srcRect t="13608"/>
          <a:stretch/>
        </p:blipFill>
        <p:spPr>
          <a:xfrm>
            <a:off x="611186" y="1700808"/>
            <a:ext cx="7921254" cy="4114328"/>
          </a:xfrm>
          <a:prstGeom prst="rect">
            <a:avLst/>
          </a:prstGeom>
        </p:spPr>
      </p:pic>
      <p:sp>
        <p:nvSpPr>
          <p:cNvPr id="15" name="object 4">
            <a:extLst>
              <a:ext uri="{FF2B5EF4-FFF2-40B4-BE49-F238E27FC236}">
                <a16:creationId xmlns:a16="http://schemas.microsoft.com/office/drawing/2014/main" id="{20AC15FC-E5FE-8CDB-CA95-C196E9C06CD8}"/>
              </a:ext>
            </a:extLst>
          </p:cNvPr>
          <p:cNvSpPr/>
          <p:nvPr userDrawn="1"/>
        </p:nvSpPr>
        <p:spPr>
          <a:xfrm>
            <a:off x="1187624" y="2902083"/>
            <a:ext cx="1296144" cy="45719"/>
          </a:xfrm>
          <a:custGeom>
            <a:avLst/>
            <a:gdLst/>
            <a:ahLst/>
            <a:cxnLst/>
            <a:rect l="l" t="t" r="r" b="b"/>
            <a:pathLst>
              <a:path w="2074545">
                <a:moveTo>
                  <a:pt x="0" y="0"/>
                </a:moveTo>
                <a:lnTo>
                  <a:pt x="2073978" y="0"/>
                </a:lnTo>
              </a:path>
            </a:pathLst>
          </a:custGeom>
          <a:ln w="90049">
            <a:solidFill>
              <a:srgbClr val="F16122"/>
            </a:solidFill>
          </a:ln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endParaRPr/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E72099D7-B84A-6192-6F41-670F3A290F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83969" y="2060849"/>
            <a:ext cx="3888432" cy="32403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15364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8A7822-2E13-0A58-EC56-82B7E81ACEE9}"/>
              </a:ext>
            </a:extLst>
          </p:cNvPr>
          <p:cNvSpPr/>
          <p:nvPr userDrawn="1"/>
        </p:nvSpPr>
        <p:spPr>
          <a:xfrm>
            <a:off x="8320222" y="5665824"/>
            <a:ext cx="504056" cy="2986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 sz="14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0F624A3-1507-7517-3AFE-2E4F5D5142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309" b="86918"/>
          <a:stretch/>
        </p:blipFill>
        <p:spPr>
          <a:xfrm>
            <a:off x="319722" y="689156"/>
            <a:ext cx="8504556" cy="651612"/>
          </a:xfrm>
          <a:prstGeom prst="rect">
            <a:avLst/>
          </a:prstGeom>
        </p:spPr>
      </p:pic>
      <p:sp>
        <p:nvSpPr>
          <p:cNvPr id="20" name="Espace réservé du pied de page 7">
            <a:extLst>
              <a:ext uri="{FF2B5EF4-FFF2-40B4-BE49-F238E27FC236}">
                <a16:creationId xmlns:a16="http://schemas.microsoft.com/office/drawing/2014/main" id="{84D2554A-970D-F2CC-9C58-BEEDC3528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32040" y="6307051"/>
            <a:ext cx="3240000" cy="153888"/>
          </a:xfrm>
          <a:prstGeom prst="rect">
            <a:avLst/>
          </a:prstGeom>
        </p:spPr>
        <p:txBody>
          <a:bodyPr vert="horz" wrap="square" lIns="36000" tIns="0" rIns="36000" bIns="0" rtlCol="0" anchor="ctr">
            <a:noAutofit/>
          </a:bodyPr>
          <a:lstStyle>
            <a:lvl1pPr algn="r">
              <a:defRPr sz="1000" b="0">
                <a:solidFill>
                  <a:schemeClr val="accent1"/>
                </a:solidFill>
                <a:latin typeface="Ubuntu" panose="020B0504030602030204"/>
              </a:defRPr>
            </a:lvl1pPr>
          </a:lstStyle>
          <a:p>
            <a:r>
              <a:rPr lang="fr-FR" dirty="0"/>
              <a:t>Date — Direction / Département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1A24B5-F80A-DC6B-B2D4-270DAC8B7F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6136" y="2060848"/>
            <a:ext cx="2805995" cy="603245"/>
          </a:xfrm>
        </p:spPr>
        <p:txBody>
          <a:bodyPr/>
          <a:lstStyle>
            <a:lvl1pPr>
              <a:defRPr sz="4000">
                <a:solidFill>
                  <a:srgbClr val="415364"/>
                </a:solidFill>
              </a:defRPr>
            </a:lvl1pPr>
          </a:lstStyle>
          <a:p>
            <a:r>
              <a:rPr lang="fr-FR" dirty="0"/>
              <a:t>Sommaire</a:t>
            </a:r>
          </a:p>
        </p:txBody>
      </p:sp>
    </p:spTree>
    <p:extLst>
      <p:ext uri="{BB962C8B-B14F-4D97-AF65-F5344CB8AC3E}">
        <p14:creationId xmlns:p14="http://schemas.microsoft.com/office/powerpoint/2010/main" val="272696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3CEFE534-7E8D-4CC0-9122-C80A42876F83}"/>
              </a:ext>
            </a:extLst>
          </p:cNvPr>
          <p:cNvCxnSpPr/>
          <p:nvPr userDrawn="1"/>
        </p:nvCxnSpPr>
        <p:spPr>
          <a:xfrm>
            <a:off x="682823" y="1268760"/>
            <a:ext cx="792162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85CE732-6BDC-F572-6F51-B81450815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32040" y="6307051"/>
            <a:ext cx="3240000" cy="153888"/>
          </a:xfrm>
          <a:prstGeom prst="rect">
            <a:avLst/>
          </a:prstGeom>
        </p:spPr>
        <p:txBody>
          <a:bodyPr vert="horz" wrap="square" lIns="36000" tIns="0" rIns="36000" bIns="0" rtlCol="0" anchor="ctr">
            <a:noAutofit/>
          </a:bodyPr>
          <a:lstStyle>
            <a:lvl1pPr algn="r">
              <a:defRPr sz="1000" b="0">
                <a:solidFill>
                  <a:schemeClr val="accent1"/>
                </a:solidFill>
                <a:latin typeface="Ubuntu" panose="020B0504030602030204"/>
              </a:defRPr>
            </a:lvl1pPr>
          </a:lstStyle>
          <a:p>
            <a:r>
              <a:rPr lang="fr-FR" dirty="0"/>
              <a:t>Date — Direction / Département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B131F34F-5934-13F7-B921-A6A3DCB98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73" y="251999"/>
            <a:ext cx="7956549" cy="872737"/>
          </a:xfrm>
        </p:spPr>
        <p:txBody>
          <a:bodyPr anchor="t"/>
          <a:lstStyle>
            <a:lvl1pPr>
              <a:defRPr sz="2900">
                <a:solidFill>
                  <a:srgbClr val="41536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BF01F4B-1C5D-2BD5-4FA4-EA9822501A3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47700" y="1338263"/>
            <a:ext cx="7956550" cy="866775"/>
          </a:xfrm>
        </p:spPr>
        <p:txBody>
          <a:bodyPr/>
          <a:lstStyle>
            <a:lvl1pPr marL="0" indent="0">
              <a:buFontTx/>
              <a:buNone/>
              <a:defRPr b="1">
                <a:solidFill>
                  <a:srgbClr val="EA560D"/>
                </a:solidFill>
              </a:defRPr>
            </a:lvl1pPr>
            <a:lvl2pPr>
              <a:buFontTx/>
              <a:buNone/>
              <a:defRPr/>
            </a:lvl2pPr>
            <a:lvl3pPr marL="290250" indent="0">
              <a:buFontTx/>
              <a:buNone/>
              <a:defRPr/>
            </a:lvl3pPr>
            <a:lvl4pPr marL="290250" indent="0">
              <a:buFontTx/>
              <a:buNone/>
              <a:defRPr/>
            </a:lvl4pPr>
            <a:lvl5pPr marL="578250" indent="0">
              <a:buFontTx/>
              <a:buNone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F69B540-2693-F50E-313B-2B543DED1A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1944" y="2319371"/>
            <a:ext cx="7951877" cy="3773925"/>
          </a:xfrm>
        </p:spPr>
        <p:txBody>
          <a:bodyPr/>
          <a:lstStyle>
            <a:lvl1pPr>
              <a:defRPr/>
            </a:lvl1pPr>
            <a:lvl2pPr marL="540000" indent="-285750">
              <a:buFontTx/>
              <a:buBlip>
                <a:blip r:embed="rId2"/>
              </a:buBlip>
              <a:defRPr/>
            </a:lvl2pPr>
            <a:lvl3pPr marL="900000" indent="-285750">
              <a:buFontTx/>
              <a:buBlip>
                <a:blip r:embed="rId3"/>
              </a:buBlip>
              <a:defRPr/>
            </a:lvl3pPr>
            <a:lvl4pPr marL="1152000" indent="-285750">
              <a:buFontTx/>
              <a:buBlip>
                <a:blip r:embed="rId4"/>
              </a:buBlip>
              <a:defRPr/>
            </a:lvl4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	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3111402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/>
          <p:cNvSpPr>
            <a:spLocks noGrp="1"/>
          </p:cNvSpPr>
          <p:nvPr>
            <p:ph type="body" sz="quarter" idx="11" hasCustomPrompt="1"/>
          </p:nvPr>
        </p:nvSpPr>
        <p:spPr>
          <a:xfrm>
            <a:off x="683569" y="1075416"/>
            <a:ext cx="4775244" cy="2497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1">
                <a:solidFill>
                  <a:srgbClr val="415364"/>
                </a:solidFill>
              </a:defRPr>
            </a:lvl1pPr>
            <a:lvl2pPr>
              <a:defRPr sz="2500" b="1">
                <a:solidFill>
                  <a:srgbClr val="415364"/>
                </a:solidFill>
              </a:defRPr>
            </a:lvl2pPr>
            <a:lvl3pPr>
              <a:defRPr sz="2500" b="1">
                <a:solidFill>
                  <a:srgbClr val="415364"/>
                </a:solidFill>
              </a:defRPr>
            </a:lvl3pPr>
            <a:lvl4pPr>
              <a:defRPr sz="2500" b="1">
                <a:solidFill>
                  <a:srgbClr val="415364"/>
                </a:solidFill>
              </a:defRPr>
            </a:lvl4pPr>
            <a:lvl5pPr>
              <a:defRPr sz="2500" b="1">
                <a:solidFill>
                  <a:srgbClr val="415364"/>
                </a:solidFill>
              </a:defRPr>
            </a:lvl5pPr>
          </a:lstStyle>
          <a:p>
            <a:pPr lvl="0"/>
            <a:r>
              <a:rPr lang="fr-FR" dirty="0"/>
              <a:t>Texte</a:t>
            </a:r>
          </a:p>
        </p:txBody>
      </p:sp>
      <p:sp>
        <p:nvSpPr>
          <p:cNvPr id="6" name="Espace réservé du texte 8">
            <a:extLst>
              <a:ext uri="{FF2B5EF4-FFF2-40B4-BE49-F238E27FC236}">
                <a16:creationId xmlns:a16="http://schemas.microsoft.com/office/drawing/2014/main" id="{1A4A3916-A641-7543-9D68-82A2A69695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3569" y="3861048"/>
            <a:ext cx="7943595" cy="19442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00" b="0">
                <a:solidFill>
                  <a:srgbClr val="EA560D"/>
                </a:solidFill>
              </a:defRPr>
            </a:lvl1pPr>
            <a:lvl2pPr>
              <a:defRPr sz="2500" b="1">
                <a:solidFill>
                  <a:srgbClr val="415364"/>
                </a:solidFill>
              </a:defRPr>
            </a:lvl2pPr>
            <a:lvl3pPr>
              <a:defRPr sz="2500" b="1">
                <a:solidFill>
                  <a:srgbClr val="415364"/>
                </a:solidFill>
              </a:defRPr>
            </a:lvl3pPr>
            <a:lvl4pPr>
              <a:defRPr sz="2500" b="1">
                <a:solidFill>
                  <a:srgbClr val="415364"/>
                </a:solidFill>
              </a:defRPr>
            </a:lvl4pPr>
            <a:lvl5pPr>
              <a:defRPr sz="2500" b="1">
                <a:solidFill>
                  <a:srgbClr val="415364"/>
                </a:solidFill>
              </a:defRPr>
            </a:lvl5pPr>
          </a:lstStyle>
          <a:p>
            <a:pPr lvl="0"/>
            <a:r>
              <a:rPr lang="fr-FR" dirty="0"/>
              <a:t>Cliquer pour ajouter du texte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3B82EBAF-E055-C161-19E0-1E7C3C538E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l="68984" b="48038"/>
          <a:stretch/>
        </p:blipFill>
        <p:spPr>
          <a:xfrm>
            <a:off x="5580111" y="828824"/>
            <a:ext cx="2903037" cy="2887072"/>
          </a:xfrm>
          <a:prstGeom prst="rect">
            <a:avLst/>
          </a:prstGeom>
        </p:spPr>
      </p:pic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7EFCC1A-460C-8DF6-7533-82CDDA45D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32040" y="6307051"/>
            <a:ext cx="3240000" cy="153888"/>
          </a:xfrm>
          <a:prstGeom prst="rect">
            <a:avLst/>
          </a:prstGeom>
        </p:spPr>
        <p:txBody>
          <a:bodyPr vert="horz" wrap="square" lIns="36000" tIns="0" rIns="36000" bIns="0" rtlCol="0" anchor="ctr">
            <a:noAutofit/>
          </a:bodyPr>
          <a:lstStyle>
            <a:lvl1pPr algn="r">
              <a:defRPr sz="1000" b="0">
                <a:solidFill>
                  <a:schemeClr val="accent1"/>
                </a:solidFill>
                <a:latin typeface="Ubuntu" panose="020B0504030602030204"/>
              </a:defRPr>
            </a:lvl1pPr>
          </a:lstStyle>
          <a:p>
            <a:r>
              <a:rPr lang="fr-FR" dirty="0"/>
              <a:t>Date — Direction / Département</a:t>
            </a:r>
          </a:p>
        </p:txBody>
      </p:sp>
    </p:spTree>
    <p:extLst>
      <p:ext uri="{BB962C8B-B14F-4D97-AF65-F5344CB8AC3E}">
        <p14:creationId xmlns:p14="http://schemas.microsoft.com/office/powerpoint/2010/main" val="366597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+ 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16495429-CBEE-FB89-045D-DA29CD23BD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71328" t="15210" b="3744"/>
          <a:stretch/>
        </p:blipFill>
        <p:spPr>
          <a:xfrm>
            <a:off x="5544109" y="836713"/>
            <a:ext cx="3024790" cy="5184576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47274" y="252000"/>
            <a:ext cx="7921624" cy="458510"/>
          </a:xfrm>
          <a:prstGeom prst="rect">
            <a:avLst/>
          </a:prstGeom>
        </p:spPr>
        <p:txBody>
          <a:bodyPr/>
          <a:lstStyle>
            <a:lvl1pPr>
              <a:defRPr sz="2900" baseline="0">
                <a:solidFill>
                  <a:srgbClr val="415364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 hasCustomPrompt="1"/>
          </p:nvPr>
        </p:nvSpPr>
        <p:spPr>
          <a:xfrm>
            <a:off x="5544109" y="935999"/>
            <a:ext cx="3024790" cy="4996990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Faire glisser l'image vers l'espace réservé ou cliquer sur l'icône pour l'ajouter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647274" y="936000"/>
            <a:ext cx="4717351" cy="43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EA560D"/>
                </a:solidFill>
              </a:defRPr>
            </a:lvl1pPr>
          </a:lstStyle>
          <a:p>
            <a:pPr lvl="0"/>
            <a:r>
              <a:rPr lang="fr-FR" dirty="0"/>
              <a:t>Sous-titre, introduction</a:t>
            </a:r>
          </a:p>
        </p:txBody>
      </p:sp>
      <p:sp>
        <p:nvSpPr>
          <p:cNvPr id="11" name="Espace réservé du pied de page 7">
            <a:extLst>
              <a:ext uri="{FF2B5EF4-FFF2-40B4-BE49-F238E27FC236}">
                <a16:creationId xmlns:a16="http://schemas.microsoft.com/office/drawing/2014/main" id="{0ED81B35-19AD-28AE-541D-9711D44E0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32040" y="6307051"/>
            <a:ext cx="3240000" cy="153888"/>
          </a:xfrm>
          <a:prstGeom prst="rect">
            <a:avLst/>
          </a:prstGeom>
        </p:spPr>
        <p:txBody>
          <a:bodyPr vert="horz" wrap="square" lIns="36000" tIns="0" rIns="36000" bIns="0" rtlCol="0" anchor="ctr">
            <a:noAutofit/>
          </a:bodyPr>
          <a:lstStyle>
            <a:lvl1pPr algn="r">
              <a:defRPr sz="1000" b="0">
                <a:solidFill>
                  <a:schemeClr val="accent1"/>
                </a:solidFill>
                <a:latin typeface="Ubuntu" panose="020B0504030602030204"/>
              </a:defRPr>
            </a:lvl1pPr>
          </a:lstStyle>
          <a:p>
            <a:r>
              <a:rPr lang="fr-FR" dirty="0"/>
              <a:t>Date — Direction / Département</a:t>
            </a:r>
          </a:p>
        </p:txBody>
      </p:sp>
      <p:sp>
        <p:nvSpPr>
          <p:cNvPr id="3" name="Espace réservé du texte 12">
            <a:extLst>
              <a:ext uri="{FF2B5EF4-FFF2-40B4-BE49-F238E27FC236}">
                <a16:creationId xmlns:a16="http://schemas.microsoft.com/office/drawing/2014/main" id="{5B53A4CE-C1DB-2F91-4195-A6FC9568D2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7274" y="1484784"/>
            <a:ext cx="4717351" cy="4437216"/>
          </a:xfrm>
          <a:prstGeom prst="rect">
            <a:avLst/>
          </a:prstGeom>
        </p:spPr>
        <p:txBody>
          <a:bodyPr/>
          <a:lstStyle>
            <a:lvl1pPr marL="285750" indent="-285750">
              <a:buFontTx/>
              <a:buBlip>
                <a:blip r:embed="rId3"/>
              </a:buBlip>
              <a:defRPr lang="fr-FR" sz="1600" kern="1200" dirty="0" smtClean="0">
                <a:solidFill>
                  <a:srgbClr val="415364"/>
                </a:solidFill>
                <a:latin typeface="Ubuntu"/>
                <a:ea typeface="+mn-ea"/>
                <a:cs typeface="+mn-cs"/>
              </a:defRPr>
            </a:lvl1pPr>
            <a:lvl2pPr marL="285750" indent="-285750" algn="l">
              <a:buFontTx/>
              <a:buBlip>
                <a:blip r:embed="rId3"/>
              </a:buBlip>
              <a:defRPr>
                <a:solidFill>
                  <a:srgbClr val="415364"/>
                </a:solidFill>
              </a:defRPr>
            </a:lvl2pPr>
            <a:lvl3pPr marL="576000" indent="-285750">
              <a:buFontTx/>
              <a:buBlip>
                <a:blip r:embed="rId4"/>
              </a:buBlip>
              <a:defRPr>
                <a:solidFill>
                  <a:srgbClr val="415364"/>
                </a:solidFill>
              </a:defRPr>
            </a:lvl3pPr>
            <a:lvl4pPr marL="900000" indent="-285750">
              <a:buFontTx/>
              <a:buBlip>
                <a:blip r:embed="rId5"/>
              </a:buBlip>
              <a:defRPr>
                <a:solidFill>
                  <a:srgbClr val="415364"/>
                </a:solidFill>
              </a:defRPr>
            </a:lvl4pPr>
            <a:lvl5pPr marL="1152000" indent="-285750">
              <a:buFontTx/>
              <a:buBlip>
                <a:blip r:embed="rId6"/>
              </a:buBlip>
              <a:defRPr>
                <a:solidFill>
                  <a:srgbClr val="415364"/>
                </a:solidFill>
              </a:defRPr>
            </a:lvl5pPr>
            <a:lvl6pPr marL="612000" indent="0">
              <a:buNone/>
              <a:defRPr/>
            </a:lvl6pPr>
            <a:lvl7pPr marL="864000" indent="0">
              <a:buNone/>
              <a:defRPr/>
            </a:lvl7pPr>
          </a:lstStyle>
          <a:p>
            <a:pPr lvl="1"/>
            <a:r>
              <a:rPr lang="fr-FR" dirty="0"/>
              <a:t>Premier niveau</a:t>
            </a:r>
          </a:p>
          <a:p>
            <a:pPr lvl="2"/>
            <a:r>
              <a:rPr lang="fr-FR" dirty="0"/>
              <a:t>Deuxième niveau</a:t>
            </a:r>
          </a:p>
          <a:p>
            <a:pPr lvl="3"/>
            <a:r>
              <a:rPr lang="fr-FR" dirty="0"/>
              <a:t>Troisième niveau</a:t>
            </a:r>
          </a:p>
          <a:p>
            <a:pPr lvl="4"/>
            <a:r>
              <a:rPr lang="fr-FR" dirty="0"/>
              <a:t>Quatrième niveau </a:t>
            </a:r>
          </a:p>
        </p:txBody>
      </p:sp>
    </p:spTree>
    <p:extLst>
      <p:ext uri="{BB962C8B-B14F-4D97-AF65-F5344CB8AC3E}">
        <p14:creationId xmlns:p14="http://schemas.microsoft.com/office/powerpoint/2010/main" val="1710752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47273" y="252000"/>
            <a:ext cx="7955595" cy="458510"/>
          </a:xfrm>
          <a:prstGeom prst="rect">
            <a:avLst/>
          </a:prstGeom>
        </p:spPr>
        <p:txBody>
          <a:bodyPr/>
          <a:lstStyle>
            <a:lvl1pPr>
              <a:defRPr sz="2900" baseline="0">
                <a:solidFill>
                  <a:srgbClr val="415364"/>
                </a:solidFill>
              </a:defRPr>
            </a:lvl1pPr>
          </a:lstStyle>
          <a:p>
            <a:r>
              <a:rPr lang="fr-FR" dirty="0"/>
              <a:t>Titre de la diapositive</a:t>
            </a:r>
          </a:p>
        </p:txBody>
      </p:sp>
      <p:sp>
        <p:nvSpPr>
          <p:cNvPr id="13" name="Espace réservé pour une image  12"/>
          <p:cNvSpPr>
            <a:spLocks noGrp="1"/>
          </p:cNvSpPr>
          <p:nvPr>
            <p:ph type="pic" sz="quarter" idx="12" hasCustomPrompt="1"/>
          </p:nvPr>
        </p:nvSpPr>
        <p:spPr>
          <a:xfrm>
            <a:off x="648448" y="1196752"/>
            <a:ext cx="7956000" cy="4428000"/>
          </a:xfrm>
          <a:prstGeom prst="rect">
            <a:avLst/>
          </a:prstGeom>
          <a:solidFill>
            <a:srgbClr val="F8F7F6"/>
          </a:solidFill>
        </p:spPr>
        <p:txBody>
          <a:bodyPr anchor="ctr"/>
          <a:lstStyle>
            <a:lvl1pPr algn="ctr">
              <a:defRPr sz="1000" b="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Faire glisser l'image vers l'espace réservé ou cliquer sur l'icône pour l'ajouter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650035" y="764704"/>
            <a:ext cx="7941108" cy="3170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fr-FR" dirty="0"/>
              <a:t>Sous-titre, introduction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649410" y="5760000"/>
            <a:ext cx="7953459" cy="18466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 b="1" baseline="0">
                <a:solidFill>
                  <a:srgbClr val="415364"/>
                </a:solidFill>
              </a:defRPr>
            </a:lvl1pPr>
          </a:lstStyle>
          <a:p>
            <a:pPr lvl="0"/>
            <a:r>
              <a:rPr lang="fr-FR" dirty="0"/>
              <a:t>Titre du visuel</a:t>
            </a:r>
          </a:p>
        </p:txBody>
      </p:sp>
      <p:sp>
        <p:nvSpPr>
          <p:cNvPr id="9" name="Espace réservé du pied de page 7">
            <a:extLst>
              <a:ext uri="{FF2B5EF4-FFF2-40B4-BE49-F238E27FC236}">
                <a16:creationId xmlns:a16="http://schemas.microsoft.com/office/drawing/2014/main" id="{5924AF81-E049-790E-F0CA-3158F1B04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32040" y="6307051"/>
            <a:ext cx="3240000" cy="153888"/>
          </a:xfrm>
          <a:prstGeom prst="rect">
            <a:avLst/>
          </a:prstGeom>
        </p:spPr>
        <p:txBody>
          <a:bodyPr vert="horz" wrap="square" lIns="36000" tIns="0" rIns="36000" bIns="0" rtlCol="0" anchor="ctr">
            <a:noAutofit/>
          </a:bodyPr>
          <a:lstStyle>
            <a:lvl1pPr algn="r">
              <a:defRPr sz="1000" b="0">
                <a:solidFill>
                  <a:schemeClr val="accent1"/>
                </a:solidFill>
                <a:latin typeface="Ubuntu" panose="020B0504030602030204"/>
              </a:defRPr>
            </a:lvl1pPr>
          </a:lstStyle>
          <a:p>
            <a:r>
              <a:rPr lang="fr-FR" dirty="0"/>
              <a:t>Date — Direction / Département</a:t>
            </a:r>
          </a:p>
        </p:txBody>
      </p:sp>
    </p:spTree>
    <p:extLst>
      <p:ext uri="{BB962C8B-B14F-4D97-AF65-F5344CB8AC3E}">
        <p14:creationId xmlns:p14="http://schemas.microsoft.com/office/powerpoint/2010/main" val="2617325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274" y="252000"/>
            <a:ext cx="7921624" cy="458510"/>
          </a:xfrm>
          <a:prstGeom prst="rect">
            <a:avLst/>
          </a:prstGeom>
        </p:spPr>
        <p:txBody>
          <a:bodyPr/>
          <a:lstStyle>
            <a:lvl1pPr>
              <a:defRPr sz="2900">
                <a:solidFill>
                  <a:srgbClr val="415364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pied de page 7">
            <a:extLst>
              <a:ext uri="{FF2B5EF4-FFF2-40B4-BE49-F238E27FC236}">
                <a16:creationId xmlns:a16="http://schemas.microsoft.com/office/drawing/2014/main" id="{88ED0A0E-4547-44B9-5B9A-9A2A585BA2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32040" y="6307051"/>
            <a:ext cx="3240000" cy="153888"/>
          </a:xfrm>
          <a:prstGeom prst="rect">
            <a:avLst/>
          </a:prstGeom>
        </p:spPr>
        <p:txBody>
          <a:bodyPr vert="horz" wrap="square" lIns="36000" tIns="0" rIns="36000" bIns="0" rtlCol="0" anchor="ctr">
            <a:noAutofit/>
          </a:bodyPr>
          <a:lstStyle>
            <a:lvl1pPr algn="r">
              <a:defRPr sz="1000" b="0">
                <a:solidFill>
                  <a:schemeClr val="accent1"/>
                </a:solidFill>
                <a:latin typeface="Ubuntu" panose="020B0504030602030204"/>
              </a:defRPr>
            </a:lvl1pPr>
          </a:lstStyle>
          <a:p>
            <a:r>
              <a:rPr lang="fr-FR" dirty="0"/>
              <a:t>Date — Direction / Département</a:t>
            </a:r>
          </a:p>
        </p:txBody>
      </p:sp>
    </p:spTree>
    <p:extLst>
      <p:ext uri="{BB962C8B-B14F-4D97-AF65-F5344CB8AC3E}">
        <p14:creationId xmlns:p14="http://schemas.microsoft.com/office/powerpoint/2010/main" val="377146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ô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fr-FR" sz="1400" dirty="0"/>
          </a:p>
        </p:txBody>
      </p:sp>
      <p:cxnSp>
        <p:nvCxnSpPr>
          <p:cNvPr id="10" name="Connecteur droit 9"/>
          <p:cNvCxnSpPr/>
          <p:nvPr userDrawn="1"/>
        </p:nvCxnSpPr>
        <p:spPr>
          <a:xfrm>
            <a:off x="1741957" y="1196752"/>
            <a:ext cx="554531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/>
          <p:cNvCxnSpPr/>
          <p:nvPr userDrawn="1"/>
        </p:nvCxnSpPr>
        <p:spPr>
          <a:xfrm>
            <a:off x="1762993" y="6021288"/>
            <a:ext cx="5545311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Imag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46631" y="1353583"/>
            <a:ext cx="4518352" cy="435160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799519" y="6023029"/>
            <a:ext cx="554496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900" dirty="0">
                <a:solidFill>
                  <a:srgbClr val="EA560D"/>
                </a:solidFill>
                <a:latin typeface="Ubuntu" panose="020B0504030602030204"/>
              </a:rPr>
              <a:t>101, rue de Tolbiac, 75654 Paris Cedex 13</a:t>
            </a:r>
          </a:p>
          <a:p>
            <a:pPr algn="ctr"/>
            <a:r>
              <a:rPr lang="fr-FR" sz="900" dirty="0">
                <a:solidFill>
                  <a:srgbClr val="EA560D"/>
                </a:solidFill>
                <a:latin typeface="Ubuntu" panose="020B0504030602030204"/>
              </a:rPr>
              <a:t>Tél. 01 44 23 04 04</a:t>
            </a:r>
          </a:p>
          <a:p>
            <a:pPr algn="ctr"/>
            <a:r>
              <a:rPr lang="fr-FR" sz="900" dirty="0">
                <a:solidFill>
                  <a:srgbClr val="EA560D"/>
                </a:solidFill>
                <a:latin typeface="Ubuntu" panose="020B0504030602030204"/>
              </a:rPr>
              <a:t>unicancer@unicancer.fr</a:t>
            </a: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936" y="334558"/>
            <a:ext cx="1512128" cy="656534"/>
          </a:xfrm>
          <a:prstGeom prst="rect">
            <a:avLst/>
          </a:prstGeom>
        </p:spPr>
      </p:pic>
      <p:sp>
        <p:nvSpPr>
          <p:cNvPr id="18" name="Titre 2">
            <a:extLst>
              <a:ext uri="{FF2B5EF4-FFF2-40B4-BE49-F238E27FC236}">
                <a16:creationId xmlns:a16="http://schemas.microsoft.com/office/drawing/2014/main" id="{7F7DED87-B044-F6C2-67D6-28A308123475}"/>
              </a:ext>
            </a:extLst>
          </p:cNvPr>
          <p:cNvSpPr txBox="1">
            <a:spLocks/>
          </p:cNvSpPr>
          <p:nvPr userDrawn="1"/>
        </p:nvSpPr>
        <p:spPr>
          <a:xfrm>
            <a:off x="3154230" y="1844824"/>
            <a:ext cx="2792078" cy="133918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defRPr kumimoji="0" lang="fr-FR" sz="2000" b="0" i="0" u="none" strike="noStrike" kern="0" cap="none" spc="0" normalizeH="0" baseline="0" dirty="0">
                <a:ln>
                  <a:noFill/>
                </a:ln>
                <a:solidFill>
                  <a:srgbClr val="4A5D71"/>
                </a:solidFill>
                <a:effectLst/>
                <a:uLnTx/>
                <a:uFillTx/>
                <a:latin typeface="Ubuntu"/>
                <a:ea typeface="+mn-ea"/>
                <a:cs typeface="Ubuntu"/>
              </a:defRPr>
            </a:lvl1pPr>
          </a:lstStyle>
          <a:p>
            <a:pPr algn="ctr"/>
            <a:r>
              <a:rPr lang="fr-FR" sz="3600" b="1" dirty="0"/>
              <a:t>RESTONS </a:t>
            </a:r>
          </a:p>
          <a:p>
            <a:pPr algn="ctr"/>
            <a:r>
              <a:rPr lang="fr-FR" sz="2400" b="1" dirty="0"/>
              <a:t>CONNECT</a:t>
            </a:r>
            <a:r>
              <a:rPr lang="fr-FR" sz="2400" b="1" cap="all" baseline="0" dirty="0"/>
              <a:t>éS</a:t>
            </a:r>
          </a:p>
          <a:p>
            <a:pPr algn="ctr"/>
            <a:r>
              <a:rPr lang="fr-FR" sz="2400" b="1" cap="none" baseline="0" dirty="0">
                <a:solidFill>
                  <a:srgbClr val="EA560E"/>
                </a:solidFill>
              </a:rPr>
              <a:t>www.unicancer.fr</a:t>
            </a:r>
          </a:p>
        </p:txBody>
      </p:sp>
    </p:spTree>
    <p:extLst>
      <p:ext uri="{BB962C8B-B14F-4D97-AF65-F5344CB8AC3E}">
        <p14:creationId xmlns:p14="http://schemas.microsoft.com/office/powerpoint/2010/main" val="106304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7274" y="252000"/>
            <a:ext cx="7921624" cy="458510"/>
          </a:xfrm>
          <a:prstGeom prst="rect">
            <a:avLst/>
          </a:prstGeom>
        </p:spPr>
        <p:txBody>
          <a:bodyPr vert="horz" lIns="36000" tIns="0" rIns="36000" bIns="0" rtlCol="0" anchor="b">
            <a:noAutofit/>
          </a:bodyPr>
          <a:lstStyle/>
          <a:p>
            <a:pPr marL="0" lvl="0" defTabSz="914400"/>
            <a:r>
              <a:rPr lang="fr-FR" dirty="0"/>
              <a:t>Titre en Ubuntu gras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8289987" y="6276273"/>
            <a:ext cx="346817" cy="184666"/>
          </a:xfrm>
          <a:prstGeom prst="rect">
            <a:avLst/>
          </a:prstGeom>
          <a:noFill/>
        </p:spPr>
        <p:txBody>
          <a:bodyPr wrap="none" lIns="36000" tIns="0" rIns="36000" bIns="0" rtlCol="0" anchor="ctr">
            <a:spAutoFit/>
          </a:bodyPr>
          <a:lstStyle/>
          <a:p>
            <a:pPr algn="r"/>
            <a:fld id="{1D27734D-ABBD-4719-97B8-1E46D882A45A}" type="slidenum">
              <a:rPr lang="fr-FR" sz="1200" smtClean="0">
                <a:solidFill>
                  <a:schemeClr val="accent1"/>
                </a:solidFill>
                <a:latin typeface="Ubuntu" panose="020B0504030602030204"/>
              </a:rPr>
              <a:pPr algn="r"/>
              <a:t>‹N°›</a:t>
            </a:fld>
            <a:endParaRPr lang="fr-FR" sz="1200" dirty="0">
              <a:solidFill>
                <a:schemeClr val="accent1"/>
              </a:solidFill>
              <a:latin typeface="Ubuntu" panose="020B0504030602030204"/>
            </a:endParaRPr>
          </a:p>
        </p:txBody>
      </p:sp>
      <p:cxnSp>
        <p:nvCxnSpPr>
          <p:cNvPr id="16" name="Connecteur droit 15"/>
          <p:cNvCxnSpPr>
            <a:cxnSpLocks/>
          </p:cNvCxnSpPr>
          <p:nvPr userDrawn="1"/>
        </p:nvCxnSpPr>
        <p:spPr>
          <a:xfrm>
            <a:off x="647273" y="6209581"/>
            <a:ext cx="79571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865" y="6278298"/>
            <a:ext cx="611664" cy="265572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79C333-0A76-C0D8-B792-2ED4A0F18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272" y="777201"/>
            <a:ext cx="7921625" cy="5244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Premier niveau</a:t>
            </a:r>
          </a:p>
          <a:p>
            <a:pPr lvl="2"/>
            <a:r>
              <a:rPr lang="fr-FR" dirty="0"/>
              <a:t>Deuxième niveau</a:t>
            </a:r>
          </a:p>
          <a:p>
            <a:pPr lvl="4"/>
            <a:r>
              <a:rPr lang="fr-FR" dirty="0"/>
              <a:t>Troisième niveau</a:t>
            </a:r>
          </a:p>
          <a:p>
            <a:pPr lvl="6"/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99672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9" r:id="rId2"/>
    <p:sldLayoutId id="2147483653" r:id="rId3"/>
    <p:sldLayoutId id="2147483664" r:id="rId4"/>
    <p:sldLayoutId id="2147483666" r:id="rId5"/>
    <p:sldLayoutId id="2147483650" r:id="rId6"/>
    <p:sldLayoutId id="2147483665" r:id="rId7"/>
    <p:sldLayoutId id="2147483654" r:id="rId8"/>
    <p:sldLayoutId id="2147483663" r:id="rId9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lang="fr-FR" sz="2800" b="1" kern="1200" dirty="0">
          <a:solidFill>
            <a:schemeClr val="accent1"/>
          </a:solidFill>
          <a:latin typeface="Ubuntu"/>
          <a:ea typeface="+mn-ea"/>
          <a:cs typeface="+mn-cs"/>
        </a:defRPr>
      </a:lvl1pPr>
    </p:titleStyle>
    <p:bodyStyle>
      <a:lvl1pPr marL="285750" indent="-285750" algn="l" defTabSz="685800" rtl="0" eaLnBrk="1" latinLnBrk="0" hangingPunct="1">
        <a:lnSpc>
          <a:spcPct val="100000"/>
        </a:lnSpc>
        <a:spcBef>
          <a:spcPts val="0"/>
        </a:spcBef>
        <a:buFontTx/>
        <a:buBlip>
          <a:blip r:embed="rId12"/>
        </a:buBlip>
        <a:defRPr sz="1600" b="0" kern="1200">
          <a:solidFill>
            <a:srgbClr val="415364"/>
          </a:solidFill>
          <a:latin typeface="Ubuntu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Clr>
          <a:srgbClr val="EA560D"/>
        </a:buClr>
        <a:buSzPct val="100000"/>
        <a:buFontTx/>
        <a:buNone/>
        <a:defRPr sz="1600" kern="1200">
          <a:solidFill>
            <a:srgbClr val="415364"/>
          </a:solidFill>
          <a:latin typeface="Ubuntu" panose="020B0504030602030204" pitchFamily="34" charset="0"/>
          <a:ea typeface="+mn-ea"/>
          <a:cs typeface="+mn-cs"/>
        </a:defRPr>
      </a:lvl2pPr>
      <a:lvl3pPr marL="576000" indent="-285750" algn="l" defTabSz="685800" rtl="0" eaLnBrk="1" latinLnBrk="0" hangingPunct="1">
        <a:lnSpc>
          <a:spcPct val="100000"/>
        </a:lnSpc>
        <a:spcBef>
          <a:spcPts val="0"/>
        </a:spcBef>
        <a:buClrTx/>
        <a:buSzPct val="100000"/>
        <a:buFontTx/>
        <a:buBlip>
          <a:blip r:embed="rId13"/>
        </a:buBlip>
        <a:defRPr sz="1600" kern="1200">
          <a:solidFill>
            <a:srgbClr val="415364"/>
          </a:solidFill>
          <a:latin typeface="Ubuntu" panose="020B0504030602030204" pitchFamily="34" charset="0"/>
          <a:ea typeface="+mn-ea"/>
          <a:cs typeface="+mn-cs"/>
        </a:defRPr>
      </a:lvl3pPr>
      <a:lvl4pPr marL="576000" indent="-285750" algn="l" defTabSz="685800" rtl="0" eaLnBrk="1" latinLnBrk="0" hangingPunct="1">
        <a:lnSpc>
          <a:spcPct val="100000"/>
        </a:lnSpc>
        <a:spcBef>
          <a:spcPts val="0"/>
        </a:spcBef>
        <a:buClr>
          <a:schemeClr val="accent6">
            <a:lumMod val="60000"/>
            <a:lumOff val="40000"/>
          </a:schemeClr>
        </a:buClr>
        <a:buSzPct val="100000"/>
        <a:buFont typeface="Arial" panose="020B0604020202020204" pitchFamily="34" charset="0"/>
        <a:buChar char="•"/>
        <a:defRPr sz="1600" kern="1200">
          <a:solidFill>
            <a:srgbClr val="415364"/>
          </a:solidFill>
          <a:latin typeface="Ubuntu" panose="020B0504030602030204" pitchFamily="34" charset="0"/>
          <a:ea typeface="+mn-ea"/>
          <a:cs typeface="+mn-cs"/>
        </a:defRPr>
      </a:lvl4pPr>
      <a:lvl5pPr marL="864000" indent="-285750" algn="l" defTabSz="685800" rtl="0" eaLnBrk="1" latinLnBrk="0" hangingPunct="1">
        <a:lnSpc>
          <a:spcPct val="100000"/>
        </a:lnSpc>
        <a:spcBef>
          <a:spcPts val="0"/>
        </a:spcBef>
        <a:buClr>
          <a:schemeClr val="accent4">
            <a:lumMod val="60000"/>
            <a:lumOff val="40000"/>
          </a:schemeClr>
        </a:buClr>
        <a:buFontTx/>
        <a:buBlip>
          <a:blip r:embed="rId14"/>
        </a:buBlip>
        <a:defRPr sz="1600" i="0" kern="1200">
          <a:solidFill>
            <a:srgbClr val="415364"/>
          </a:solidFill>
          <a:latin typeface="Ubuntu" panose="020B0504030602030204" pitchFamily="34" charset="0"/>
          <a:ea typeface="+mn-ea"/>
          <a:cs typeface="+mn-cs"/>
        </a:defRPr>
      </a:lvl5pPr>
      <a:lvl6pPr marL="900000" indent="-285750" algn="l" defTabSz="685800" rtl="0" eaLnBrk="1" latinLnBrk="0" hangingPunct="1">
        <a:lnSpc>
          <a:spcPct val="100000"/>
        </a:lnSpc>
        <a:spcBef>
          <a:spcPts val="0"/>
        </a:spcBef>
        <a:buClr>
          <a:srgbClr val="415364"/>
        </a:buClr>
        <a:buFontTx/>
        <a:buBlip>
          <a:blip r:embed="rId14"/>
        </a:buBlip>
        <a:defRPr lang="fr-FR" sz="1600" i="0" kern="1200" dirty="0">
          <a:solidFill>
            <a:srgbClr val="415364"/>
          </a:solidFill>
          <a:latin typeface="Ubuntu"/>
          <a:ea typeface="+mn-ea"/>
          <a:cs typeface="+mn-cs"/>
        </a:defRPr>
      </a:lvl6pPr>
      <a:lvl7pPr marL="1152000" indent="-285750" algn="l" defTabSz="685800" rtl="0" eaLnBrk="1" latinLnBrk="0" hangingPunct="1">
        <a:lnSpc>
          <a:spcPct val="100000"/>
        </a:lnSpc>
        <a:spcBef>
          <a:spcPts val="0"/>
        </a:spcBef>
        <a:buClr>
          <a:srgbClr val="415364"/>
        </a:buClr>
        <a:buFontTx/>
        <a:buBlip>
          <a:blip r:embed="rId15"/>
        </a:buBlip>
        <a:defRPr lang="fr-FR" sz="1600" i="0" kern="1200" dirty="0">
          <a:solidFill>
            <a:srgbClr val="415364"/>
          </a:solidFill>
          <a:latin typeface="Ubuntu"/>
          <a:ea typeface="+mn-ea"/>
          <a:cs typeface="+mn-cs"/>
        </a:defRPr>
      </a:lvl7pPr>
      <a:lvl8pPr marL="1152000" indent="-284400" algn="l" defTabSz="685800" rtl="0" eaLnBrk="1" latinLnBrk="0" hangingPunct="1">
        <a:lnSpc>
          <a:spcPct val="90000"/>
        </a:lnSpc>
        <a:spcBef>
          <a:spcPts val="375"/>
        </a:spcBef>
        <a:buFontTx/>
        <a:buBlip>
          <a:blip r:embed="rId15"/>
        </a:buBlip>
        <a:defRPr sz="1600" kern="1200">
          <a:solidFill>
            <a:srgbClr val="415364"/>
          </a:solidFill>
          <a:latin typeface="Ubuntu" panose="020B0504030602030204" pitchFamily="34" charset="0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589" userDrawn="1">
          <p15:clr>
            <a:srgbClr val="F26B43"/>
          </p15:clr>
        </p15:guide>
        <p15:guide id="5" orient="horz" pos="3748" userDrawn="1">
          <p15:clr>
            <a:srgbClr val="F26B43"/>
          </p15:clr>
        </p15:guide>
        <p15:guide id="6" orient="horz" pos="10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principal -->
      <p:sp>
        <p:nvSpPr>
          <p:cNvPr id="10" name="Titre"/>
          <p:cNvSpPr>
            <a:spLocks noGrp="1"/>
          </p:cNvSpPr>
          <p:nvPr>
            <p:ph type="ctrTitle"/>
          </p:nvPr>
        </p:nvSpPr>
        <p:spPr>
          <a:xfrm>
            <a:off x="846358" y="2400000"/>
            <a:ext cx="7831218" cy="1400000"/>
          </a:xfrm>
        </p:spPr>
        <p:txBody>
          <a:bodyPr/>
          <a:lstStyle/>
          <a:p>
            <a:r>
              <a:rPr lang="fr-FR" dirty="0"/>
              <a:t>Gestion des Marchés Unicancer</a:t>
            </a:r>
          </a:p>
        </p:txBody>
      </p:sp>
      <!-- Sous-titre orange -->
      <p:sp>
        <p:nvSpPr>
          <p:cNvPr id="11" name="Sous-titre"/>
          <p:cNvSpPr>
            <a:spLocks noGrp="1"/>
          </p:cNvSpPr>
          <p:nvPr>
            <p:ph type="body" sz="quarter" idx="13"/>
          </p:nvPr>
        </p:nvSpPr>
        <p:spPr>
          <a:xfrm>
            <a:off x="846358" y="3900000"/>
            <a:ext cx="7831218" cy="600000"/>
          </a:xfrm>
        </p:spPr>
        <p:txBody>
          <a:bodyPr/>
          <a:lstStyle/>
          <a:p>
            <a:pPr marL="0" indent="0" algn="ctr">
              <a:buNone/>
            </a:pPr>
            <a:r>
              <a:rPr lang="fr-FR" sz="2000" b="0" dirty="0">
                <a:solidFill>
                  <a:srgbClr val="EA560D"/>
                </a:solidFill>
              </a:rPr>
              <a:t>Architecture technique &amp; code — Document DSI</a:t>
            </a:r>
          </a:p>
        </p:txBody>
      </p:sp>
      <!-- Auteur -->
      <p:sp>
        <p:nvSpPr>
          <p:cNvPr id="12" name="Auteur"/>
          <p:cNvSpPr>
            <a:spLocks noGrp="1"/>
          </p:cNvSpPr>
          <p:nvPr>
            <p:ph type="body" sz="quarter" idx="16"/>
          </p:nvPr>
        </p:nvSpPr>
        <p:spPr>
          <a:xfrm>
            <a:off x="3312000" y="6071602"/>
            <a:ext cx="2520000" cy="21544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DAAI · Mai 2026</a:t>
            </a:r>
          </a:p>
        </p:txBody>
      </p:sp>
    </p:spTree>
    <p:clrMapOvr>
      <a:masterClrMapping/>
    </p:clrMapOvr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Ce que couvre cette présentation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Présentation du projet et cas d'usage</a:t>
            </a:r>
          </a:p>
          <a:p>
            <a:pPr lvl="0"/>
            <a:r>
              <a:rPr lang="fr-FR" dirty="0"/>
              <a:t>Architecture globale de l'application</a:t>
            </a:r>
          </a:p>
          <a:p>
            <a:pPr lvl="0"/>
            <a:r>
              <a:rPr lang="fr-FR" dirty="0"/>
              <a:t>Stack technique — outils utilisés</a:t>
            </a:r>
          </a:p>
          <a:p>
            <a:pPr lvl="0"/>
            <a:r>
              <a:rPr lang="fr-FR" dirty="0"/>
              <a:t>Structure du code source</a:t>
            </a:r>
          </a:p>
          <a:p>
            <a:pPr lvl="0"/>
            <a:r>
              <a:rPr lang="fr-FR" dirty="0"/>
              <a:t>Couche de données et état applicatif</a:t>
            </a:r>
          </a:p>
          <a:p>
            <a:pPr lvl="0"/>
            <a:r>
              <a:rPr lang="fr-FR" dirty="0"/>
              <a:t>Pipelines de traitement de fichiers</a:t>
            </a:r>
          </a:p>
          <a:p>
            <a:pPr lvl="0"/>
            <a:r>
              <a:rPr lang="fr-FR" dirty="0"/>
              <a:t>Authentification &amp; assistant IA (Copilot)</a:t>
            </a:r>
          </a:p>
          <a:p>
            <a:pPr lvl="0"/>
            <a:r>
              <a:rPr lang="fr-FR" dirty="0"/>
              <a:t>Déploiement, build et synthèse DSI</a:t>
            </a:r>
          </a:p>
        </p:txBody>
      </p:sp>
    </p:spTree>
    <p:clrMapOvr>
      <a:masterClrMapping/>
    </p:clrMapOvr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1 · Présentation du projet</a:t>
            </a:r>
          </a:p>
        </p:txBody>
      </p:sp>
    </p:spTree>
    <p:clrMapOvr>
      <a:masterClrMapping/>
    </p:clrMapOvr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Gestion des Marchés Unicancer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Une application web métier pour le pilotage des marchés publics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Cycle couvert : sourcing → ouverture → analyse → notation → attribution → reporting</a:t>
            </a:r>
          </a:p>
          <a:p>
            <a:pPr lvl="0"/>
            <a:r>
              <a:rPr lang="fr-FR" dirty="0"/>
              <a:t>4 secteurs : Investissements · Pharma · Logistique · R&amp;D</a:t>
            </a:r>
          </a:p>
          <a:p>
            <a:pPr lvl="0"/>
            <a:r>
              <a:rPr lang="fr-FR" dirty="0"/>
              <a:t>~30 marchés actifs et 491 contacts répartis sur 19 CLCC</a:t>
            </a:r>
          </a:p>
          <a:p>
            <a:pPr lvl="0"/>
            <a:r>
              <a:rPr lang="fr-FR" dirty="0"/>
              <a:t>Cas d'usage principaux :</a:t>
            </a:r>
          </a:p>
          <a:p>
            <a:pPr lvl="1"/>
            <a:r>
              <a:rPr lang="fr-FR" dirty="0"/>
              <a:t>Analyse automatisée des offres (PDF / DOCX / XLSX)</a:t>
            </a:r>
          </a:p>
          <a:p>
            <a:pPr lvl="1"/>
            <a:r>
              <a:rPr lang="fr-FR" dirty="0"/>
              <a:t>Notation collaborative des candidats</a:t>
            </a:r>
          </a:p>
          <a:p>
            <a:pPr lvl="1"/>
            <a:r>
              <a:rPr lang="fr-FR" dirty="0"/>
              <a:t>Reporting d'exécution (CA, maintenances, renouvellements)</a:t>
            </a:r>
          </a:p>
          <a:p>
            <a:pPr lvl="1"/>
            <a:r>
              <a:rPr lang="fr-FR" dirty="0"/>
              <a:t>Annuaire CLCC et gestion des formations</a:t>
            </a:r>
          </a:p>
        </p:txBody>
      </p:sp>
    </p:spTree>
    <p:clrMapOvr>
      <a:masterClrMapping/>
    </p:clrMapOvr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2 · Architecture globale</a:t>
            </a:r>
          </a:p>
        </p:txBody>
      </p:sp>
    </p:spTree>
    <p:clrMapOvr>
      <a:masterClrMapping/>
    </p:clrMapOvr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Une SPA 100 % client-side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Aucun backend, aucune base de données distante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Application React monobloc, exécutée dans le navigateur de l'utilisateur</a:t>
            </a:r>
          </a:p>
          <a:p>
            <a:pPr lvl="0"/>
            <a:r>
              <a:rPr lang="fr-FR" dirty="0"/>
              <a:t>3 sources de données convergentes :</a:t>
            </a:r>
          </a:p>
          <a:p>
            <a:pPr lvl="1"/>
            <a:r>
              <a:rPr lang="fr-FR" dirty="0"/>
              <a:t>Données de référence en dur dans le code (marchés, contacts CLCC)</a:t>
            </a:r>
          </a:p>
          <a:p>
            <a:pPr lvl="1"/>
            <a:r>
              <a:rPr lang="fr-FR" dirty="0"/>
              <a:t>Fichiers importés par l'utilisateur (Excel, PDF, Word)</a:t>
            </a:r>
          </a:p>
          <a:p>
            <a:pPr lvl="1"/>
            <a:r>
              <a:rPr lang="fr-FR" dirty="0"/>
              <a:t>Persistance navigateur via localStorage (notations, métadonnées)</a:t>
            </a:r>
          </a:p>
          <a:p>
            <a:pPr lvl="0"/>
            <a:r>
              <a:rPr lang="fr-FR" dirty="0"/>
              <a:t>Bénéfices :</a:t>
            </a:r>
          </a:p>
          <a:p>
            <a:pPr lvl="1"/>
            <a:r>
              <a:rPr lang="fr-FR" dirty="0"/>
              <a:t>Aucune donnée ne quitte le poste — confidentialité maximale</a:t>
            </a:r>
          </a:p>
          <a:p>
            <a:pPr lvl="1"/>
            <a:r>
              <a:rPr lang="fr-FR" dirty="0"/>
              <a:t>Déployable sur n'importe quel hébergement statique</a:t>
            </a:r>
          </a:p>
          <a:p>
            <a:pPr lvl="1"/>
            <a:r>
              <a:rPr lang="fr-FR" dirty="0"/>
              <a:t>Pas de serveur à maintenir, pas d'infrastructure lourde</a:t>
            </a:r>
          </a:p>
        </p:txBody>
      </p:sp>
    </p:spTree>
    <p:clrMapOvr>
      <a:masterClrMapping/>
    </p:clrMapOvr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3 · Stack technique</a:t>
            </a:r>
          </a:p>
        </p:txBody>
      </p:sp>
    </p:spTree>
    <p:clrMapOvr>
      <a:masterClrMapping/>
    </p:clrMapOvr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Technologies utilisées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Stack moderne basée sur l'écosystème React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Cœur applicatif</a:t>
            </a:r>
          </a:p>
          <a:p>
            <a:pPr lvl="1"/>
            <a:r>
              <a:rPr lang="fr-FR" dirty="0"/>
              <a:t>React 18 — framework UI à composants</a:t>
            </a:r>
          </a:p>
          <a:p>
            <a:pPr lvl="1"/>
            <a:r>
              <a:rPr lang="fr-FR" dirty="0"/>
              <a:t>Vite 5 — outil de build rapide (dev server + bundler production)</a:t>
            </a:r>
          </a:p>
          <a:p>
            <a:pPr lvl="1"/>
            <a:r>
              <a:rPr lang="fr-FR" dirty="0"/>
              <a:t>React Router 6 — navigation interne sans rechargement</a:t>
            </a:r>
          </a:p>
          <a:p>
            <a:pPr lvl="1"/>
            <a:r>
              <a:rPr lang="fr-FR" dirty="0"/>
              <a:t>JavaScript ES2022 (pas de TypeScript)</a:t>
            </a:r>
          </a:p>
          <a:p>
            <a:pPr lvl="0"/>
            <a:r>
              <a:rPr lang="fr-FR" dirty="0"/>
              <a:t>Traitement de fichiers (dans le navigateur)</a:t>
            </a:r>
          </a:p>
          <a:p>
            <a:pPr lvl="1"/>
            <a:r>
              <a:rPr lang="fr-FR" dirty="0"/>
              <a:t>xlsx + xlsx-js-style — lecture / écriture Excel</a:t>
            </a:r>
          </a:p>
          <a:p>
            <a:pPr lvl="1"/>
            <a:r>
              <a:rPr lang="fr-FR" dirty="0"/>
              <a:t>jspdf + html2canvas — génération de PDF avec graphiques</a:t>
            </a:r>
          </a:p>
          <a:p>
            <a:pPr lvl="1"/>
            <a:r>
              <a:rPr lang="fr-FR" dirty="0"/>
              <a:t>pdfjs-dist — extraction texte des PDF</a:t>
            </a:r>
          </a:p>
          <a:p>
            <a:pPr lvl="1"/>
            <a:r>
              <a:rPr lang="fr-FR" dirty="0"/>
              <a:t>mammoth — lecture des fichiers Word (.docx)</a:t>
            </a:r>
          </a:p>
          <a:p>
            <a:pPr lvl="1"/>
            <a:r>
              <a:rPr lang="fr-FR" dirty="0"/>
              <a:t>recharts — graphiques (barres, lignes, camemberts)</a:t>
            </a:r>
          </a:p>
          <a:p>
            <a:pPr lvl="0"/>
            <a:r>
              <a:rPr lang="fr-FR" dirty="0"/>
              <a:t>Intégrations externes (optionnelles)</a:t>
            </a:r>
          </a:p>
          <a:p>
            <a:pPr lvl="1"/>
            <a:r>
              <a:rPr lang="fr-FR" dirty="0"/>
              <a:t>@azure/msal-browser — authentification Azure AD (non activée)</a:t>
            </a:r>
          </a:p>
          <a:p>
            <a:pPr lvl="1"/>
            <a:r>
              <a:rPr lang="fr-FR" dirty="0"/>
              <a:t>Anthropic API (Claude) — assistant IA Copilot via proxy Node</a:t>
            </a:r>
          </a:p>
        </p:txBody>
      </p:sp>
    </p:spTree>
    <p:clrMapOvr>
      <a:masterClrMapping/>
    </p:clrMapOvr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4 · Structure du code</a:t>
            </a:r>
          </a:p>
        </p:txBody>
      </p:sp>
    </p:spTree>
    <p:clrMapOvr>
      <a:masterClrMapping/>
    </p:clrMapOvr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Organisation du code source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Découpage par domaine métier (et non par couche technique)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src/pages/  — 9 pages globales (Accueil, Dashboard, Calendrier…)</a:t>
            </a:r>
          </a:p>
          <a:p>
            <a:pPr lvl="0"/>
            <a:r>
              <a:rPr lang="fr-FR" dirty="0"/>
              <a:t>src/features/  — 7 modules métier autonomes</a:t>
            </a:r>
          </a:p>
          <a:p>
            <a:pPr lvl="1"/>
            <a:r>
              <a:rPr lang="fr-FR" dirty="0"/>
              <a:t>ao/  → analyse d'offres (6 onglets)</a:t>
            </a:r>
          </a:p>
          <a:p>
            <a:pPr lvl="1"/>
            <a:r>
              <a:rPr lang="fr-FR" dirty="0"/>
              <a:t>notation/  → évaluation des candidats</a:t>
            </a:r>
          </a:p>
          <a:p>
            <a:pPr lvl="1"/>
            <a:r>
              <a:rPr lang="fr-FR" dirty="0"/>
              <a:t>reporting/  → suivi d'exécution + BDD investissements</a:t>
            </a:r>
          </a:p>
          <a:p>
            <a:pPr lvl="1"/>
            <a:r>
              <a:rPr lang="fr-FR" dirty="0"/>
              <a:t>sourcing/  · formations/  · contacts/  · erp/</a:t>
            </a:r>
          </a:p>
          <a:p>
            <a:pPr lvl="0"/>
            <a:r>
              <a:rPr lang="fr-FR" dirty="0"/>
              <a:t>src/components/  — briques UI partagées (Layout, KpiCard, Modals…)</a:t>
            </a:r>
          </a:p>
          <a:p>
            <a:pPr lvl="0"/>
            <a:r>
              <a:rPr lang="fr-FR" dirty="0"/>
              <a:t>src/context/  — 9 états globaux (notation, méta marchés, reporting…)</a:t>
            </a:r>
          </a:p>
          <a:p>
            <a:pPr lvl="0"/>
            <a:r>
              <a:rPr lang="fr-FR" dirty="0"/>
              <a:t>src/data/  — données de référence en dur (mockData.js, clccContacts.js)</a:t>
            </a:r>
          </a:p>
          <a:p>
            <a:pPr lvl="0"/>
            <a:r>
              <a:rPr lang="fr-FR" dirty="0"/>
              <a:t>src/utils/  — pipelines de traitement et utilitaires</a:t>
            </a:r>
          </a:p>
        </p:txBody>
      </p:sp>
    </p:spTree>
    <p:clrMapOvr>
      <a:masterClrMapping/>
    </p:clrMapOvr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Routing &amp; navigation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20 routes définies, mode « hash » compatible hébergement statique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Routes globales (vues transverses)</a:t>
            </a:r>
          </a:p>
          <a:p>
            <a:pPr lvl="1"/>
            <a:r>
              <a:rPr lang="fr-FR" dirty="0"/>
              <a:t>/marches · /reporting · /formations · /contacts · /calendrier · /fournisseurs</a:t>
            </a:r>
          </a:p>
          <a:p>
            <a:pPr lvl="0"/>
            <a:r>
              <a:rPr lang="fr-FR" dirty="0"/>
              <a:t>Routes contextualisées à un marché : /marche/:id/...</a:t>
            </a:r>
          </a:p>
          <a:p>
            <a:pPr lvl="1"/>
            <a:r>
              <a:rPr lang="fr-FR" dirty="0"/>
              <a:t>infos · sourcing · templates · analyse · notation · reporting</a:t>
            </a:r>
          </a:p>
          <a:p>
            <a:pPr lvl="1"/>
            <a:r>
              <a:rPr lang="fr-FR" dirty="0"/>
              <a:t>reponses · interlocuteurs · contacts-fournisseurs</a:t>
            </a:r>
          </a:p>
          <a:p>
            <a:pPr lvl="0"/>
            <a:r>
              <a:rPr lang="fr-FR" dirty="0"/>
              <a:t>Redirection intelligente sur /marche/:id</a:t>
            </a:r>
          </a:p>
          <a:p>
            <a:pPr lvl="1"/>
            <a:r>
              <a:rPr lang="fr-FR" dirty="0"/>
              <a:t>choisit automatiquement l'onglet pertinent (notation ou reporting)</a:t>
            </a:r>
          </a:p>
          <a:p>
            <a:pPr lvl="1"/>
            <a:r>
              <a:rPr lang="fr-FR" dirty="0"/>
              <a:t>selon les données disponibles pour ce marché</a:t>
            </a:r>
          </a:p>
          <a:p>
            <a:pPr lvl="0"/>
            <a:r>
              <a:rPr lang="fr-FR" dirty="0"/>
              <a:t>Authentification : aucune (Azure AD configuré mais non activé)</a:t>
            </a:r>
          </a:p>
        </p:txBody>
      </p:sp>
    </p:spTree>
    <p:clrMapOvr>
      <a:masterClrMapping/>
    </p:clrMapOvr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5 · Données &amp; état</a:t>
            </a:r>
          </a:p>
        </p:txBody>
      </p:sp>
    </p:spTree>
    <p:clrMapOvr>
      <a:masterClrMapping/>
    </p:clrMapOvr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Couche de données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Triple source convergeant vers les composants UI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Source 1 — Données de référence (en dur dans le code)</a:t>
            </a:r>
          </a:p>
          <a:p>
            <a:pPr lvl="1"/>
            <a:r>
              <a:rPr lang="fr-FR" dirty="0"/>
              <a:t>mockData.js : ~30 marchés (id, statut, dates, lots, budget, tags)</a:t>
            </a:r>
          </a:p>
          <a:p>
            <a:pPr lvl="1"/>
            <a:r>
              <a:rPr lang="fr-FR" dirty="0"/>
              <a:t>clccContacts.js : 491 contacts (19 CLCC × 27 fonctions)</a:t>
            </a:r>
          </a:p>
          <a:p>
            <a:pPr lvl="1"/>
            <a:r>
              <a:rPr lang="fr-FR" dirty="0"/>
              <a:t>fournisseursContacts.js : annuaire fournisseurs</a:t>
            </a:r>
          </a:p>
          <a:p>
            <a:pPr lvl="0"/>
            <a:r>
              <a:rPr lang="fr-FR" dirty="0"/>
              <a:t>Source 2 — Fichiers importés par l'utilisateur</a:t>
            </a:r>
          </a:p>
          <a:p>
            <a:pPr lvl="1"/>
            <a:r>
              <a:rPr lang="fr-FR" dirty="0"/>
              <a:t>Suivi_Invest.xlsx, BPU fournisseurs, offres PDF / DOCX</a:t>
            </a:r>
          </a:p>
          <a:p>
            <a:pPr lvl="1"/>
            <a:r>
              <a:rPr lang="fr-FR" dirty="0"/>
              <a:t>Traitement intégralement côté client (zéro upload réseau)</a:t>
            </a:r>
          </a:p>
          <a:p>
            <a:pPr lvl="0"/>
            <a:r>
              <a:rPr lang="fr-FR" dirty="0"/>
              <a:t>Source 3 — Persistance localStorage du navigateur</a:t>
            </a:r>
          </a:p>
          <a:p>
            <a:pPr lvl="1"/>
            <a:r>
              <a:rPr lang="fr-FR" dirty="0"/>
              <a:t>gm-notation-history, gm-metas, gm-reporting-data, gm-bdd-pending</a:t>
            </a:r>
          </a:p>
          <a:p>
            <a:pPr lvl="1"/>
            <a:r>
              <a:rPr lang="fr-FR" dirty="0"/>
              <a:t>Limite : 5-10 Mo par domaine, isolé par utilisateur</a:t>
            </a:r>
          </a:p>
        </p:txBody>
      </p:sp>
    </p:spTree>
    <p:clrMapOvr>
      <a:masterClrMapping/>
    </p:clrMapOvr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État applicatif — 9 React Contexts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Pas de Redux ni Zustand : Context API natif de React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Approche : un Context = un domaine de données partagées</a:t>
            </a:r>
          </a:p>
          <a:p>
            <a:pPr lvl="1"/>
            <a:r>
              <a:rPr lang="fr-FR" dirty="0"/>
              <a:t>Chacun expose ses propres hooks et gère sa persistance localStorage</a:t>
            </a:r>
          </a:p>
          <a:p>
            <a:pPr lvl="0"/>
            <a:r>
              <a:rPr lang="fr-FR" dirty="0"/>
              <a:t>Les 9 contexts :</a:t>
            </a:r>
          </a:p>
          <a:p>
            <a:pPr lvl="1"/>
            <a:r>
              <a:rPr lang="fr-FR" dirty="0"/>
              <a:t>NotationContext — sessions et historique des notations</a:t>
            </a:r>
          </a:p>
          <a:p>
            <a:pPr lvl="1"/>
            <a:r>
              <a:rPr lang="fr-FR" dirty="0"/>
              <a:t>MarcheMetaContext — métadonnées éditées (responsables, tags…)</a:t>
            </a:r>
          </a:p>
          <a:p>
            <a:pPr lvl="1"/>
            <a:r>
              <a:rPr lang="fr-FR" dirty="0"/>
              <a:t>ReportingDataContext — dataset Excel parsé en mémoire</a:t>
            </a:r>
          </a:p>
          <a:p>
            <a:pPr lvl="1"/>
            <a:r>
              <a:rPr lang="fr-FR" dirty="0"/>
              <a:t>BddPendingContext — queue de lignes BDD à exporter</a:t>
            </a:r>
          </a:p>
          <a:p>
            <a:pPr lvl="1"/>
            <a:r>
              <a:rPr lang="fr-FR" dirty="0"/>
              <a:t>NewMarchesContext · NewFormationsContext (drafts)</a:t>
            </a:r>
          </a:p>
          <a:p>
            <a:pPr lvl="1"/>
            <a:r>
              <a:rPr lang="fr-FR" dirty="0"/>
              <a:t>FormationsMetaContext · SourcingTemplatesContext</a:t>
            </a:r>
          </a:p>
          <a:p>
            <a:pPr lvl="1"/>
            <a:r>
              <a:rPr lang="fr-FR" dirty="0"/>
              <a:t>ShortcutsContext (raccourcis clavier, mémoire seule)</a:t>
            </a:r>
          </a:p>
        </p:txBody>
      </p:sp>
    </p:spTree>
    <p:clrMapOvr>
      <a:masterClrMapping/>
    </p:clrMapOvr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6 · Pipelines de traitement</a:t>
            </a:r>
          </a:p>
        </p:txBody>
      </p:sp>
    </p:spTree>
    <p:clrMapOvr>
      <a:masterClrMapping/>
    </p:clrMapOvr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Deux pipelines critiques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Transformation des fichiers utilisateur en données structurées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analysePipeline/ — Ingestion des offres AO (12 modules)</a:t>
            </a:r>
          </a:p>
          <a:p>
            <a:pPr lvl="1"/>
            <a:r>
              <a:rPr lang="fr-FR" dirty="0"/>
              <a:t>Détection automatique du type de fichier (PDF / DOCX / XLSX)</a:t>
            </a:r>
          </a:p>
          <a:p>
            <a:pPr lvl="1"/>
            <a:r>
              <a:rPr lang="fr-FR" dirty="0"/>
              <a:t>Extraction des contacts (emails, téléphones) via regex</a:t>
            </a:r>
          </a:p>
          <a:p>
            <a:pPr lvl="1"/>
            <a:r>
              <a:rPr lang="fr-FR" dirty="0"/>
              <a:t>Normalisation des en-têtes (accents, espaces, casse)</a:t>
            </a:r>
          </a:p>
          <a:p>
            <a:pPr lvl="1"/>
            <a:r>
              <a:rPr lang="fr-FR" dirty="0"/>
              <a:t>Mapping standardisé des BPU et questionnaires techniques</a:t>
            </a:r>
          </a:p>
          <a:p>
            <a:pPr lvl="1"/>
            <a:r>
              <a:rPr lang="fr-FR" dirty="0"/>
              <a:t>Validation finale des allotissements</a:t>
            </a:r>
          </a:p>
          <a:p>
            <a:pPr lvl="0"/>
            <a:r>
              <a:rPr lang="fr-FR" dirty="0"/>
              <a:t>bddBuilder/ — Construction de la BDD investissements (8 modules)</a:t>
            </a:r>
          </a:p>
          <a:p>
            <a:pPr lvl="1"/>
            <a:r>
              <a:rPr lang="fr-FR" dirty="0"/>
              <a:t>Parsing des reportings fournisseurs hétérogènes</a:t>
            </a:r>
          </a:p>
          <a:p>
            <a:pPr lvl="1"/>
            <a:r>
              <a:rPr lang="fr-FR" dirty="0"/>
              <a:t>Matching automatique fournisseur ↔ CLCC (distance Levenshtein)</a:t>
            </a:r>
          </a:p>
          <a:p>
            <a:pPr lvl="1"/>
            <a:r>
              <a:rPr lang="fr-FR" dirty="0"/>
              <a:t>Apprentissage des alias utilisateur pour affiner les matchings</a:t>
            </a:r>
          </a:p>
          <a:p>
            <a:pPr lvl="1"/>
            <a:r>
              <a:rPr lang="fr-FR" dirty="0"/>
              <a:t>Export final en Suivi_Invest.xlsx (avec graphiques natifs)</a:t>
            </a:r>
          </a:p>
        </p:txBody>
      </p:sp>
    </p:spTree>
    <p:clrMapOvr>
      <a:masterClrMapping/>
    </p:clrMapOvr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7 · Authentification &amp; Copilot</a:t>
            </a:r>
          </a:p>
        </p:txBody>
      </p:sp>
    </p:spTree>
    <p:clrMapOvr>
      <a:masterClrMapping/>
    </p:clrMapOvr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Sécurité et assistant IA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Deux briques optionnelles, indépendantes du cœur applicatif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Authentification Azure AD (MSAL) — préparée mais non activée</a:t>
            </a:r>
          </a:p>
          <a:p>
            <a:pPr lvl="1"/>
            <a:r>
              <a:rPr lang="fr-FR" dirty="0"/>
              <a:t>Librairie @azure/msal-browser configurée dans utils/msalConfig.js</a:t>
            </a:r>
          </a:p>
          <a:p>
            <a:pPr lvl="1"/>
            <a:r>
              <a:rPr lang="fr-FR" dirty="0"/>
              <a:t>Scopes prévus : User.Read, Contacts.ReadWrite</a:t>
            </a:r>
          </a:p>
          <a:p>
            <a:pPr lvl="1"/>
            <a:r>
              <a:rPr lang="fr-FR" dirty="0"/>
              <a:t>Activation : définir VITE_AZURE_CLIENT_ID et VITE_AZURE_AUTHORITY</a:t>
            </a:r>
          </a:p>
          <a:p>
            <a:pPr lvl="1"/>
            <a:r>
              <a:rPr lang="fr-FR" dirty="0"/>
              <a:t>Usage prévu : SSO Unicancer + synchronisation Outlook</a:t>
            </a:r>
          </a:p>
          <a:p>
            <a:pPr lvl="0"/>
            <a:r>
              <a:rPr lang="fr-FR" dirty="0"/>
              <a:t>Assistant IA Copilot (widget en bas à droite de l'app)</a:t>
            </a:r>
          </a:p>
          <a:p>
            <a:pPr lvl="1"/>
            <a:r>
              <a:rPr lang="fr-FR" dirty="0"/>
              <a:t>Modèle : Claude (Anthropic), version sonnet-4</a:t>
            </a:r>
          </a:p>
          <a:p>
            <a:pPr lvl="1"/>
            <a:r>
              <a:rPr lang="fr-FR" dirty="0"/>
              <a:t>Proxy Node Express local (port 3001) protège la clé API</a:t>
            </a:r>
          </a:p>
          <a:p>
            <a:pPr lvl="1"/>
            <a:r>
              <a:rPr lang="fr-FR" dirty="0"/>
              <a:t>Contexte injecté : extraits mockData + clccContacts (~8 Ko)</a:t>
            </a:r>
          </a:p>
          <a:p>
            <a:pPr lvl="1"/>
            <a:r>
              <a:rPr lang="fr-FR" dirty="0"/>
              <a:t>Coût : facturation à l'usage selon tokens consommés</a:t>
            </a:r>
          </a:p>
        </p:txBody>
      </p:sp>
    </p:spTree>
    <p:clrMapOvr>
      <a:masterClrMapping/>
    </p:clrMapOvr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8 · Synthèse DSI</a:t>
            </a:r>
          </a:p>
        </p:txBody>
      </p:sp>
    </p:spTree>
    <p:clrMapOvr>
      <a:masterClrMapping/>
    </p:clrMapOvr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Build &amp; déploiement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Mise en production simple : un dossier statique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Commandes npm</a:t>
            </a:r>
          </a:p>
          <a:p>
            <a:pPr lvl="1"/>
            <a:r>
              <a:rPr lang="fr-FR" dirty="0"/>
              <a:t>npm run dev — serveur de développement (localhost:5173)</a:t>
            </a:r>
          </a:p>
          <a:p>
            <a:pPr lvl="1"/>
            <a:r>
              <a:rPr lang="fr-FR" dirty="0"/>
              <a:t>npm run build — bundle de production dans dist/</a:t>
            </a:r>
          </a:p>
          <a:p>
            <a:pPr lvl="1"/>
            <a:r>
              <a:rPr lang="fr-FR" dirty="0"/>
              <a:t>npm run preview — vérification locale du build</a:t>
            </a:r>
          </a:p>
          <a:p>
            <a:pPr lvl="1"/>
            <a:r>
              <a:rPr lang="fr-FR" dirty="0"/>
              <a:t>npm run copilot — proxy IA (uniquement si Copilot activé)</a:t>
            </a:r>
          </a:p>
          <a:p>
            <a:pPr lvl="0"/>
            <a:r>
              <a:rPr lang="fr-FR" dirty="0"/>
              <a:t>Cibles d'hébergement possibles</a:t>
            </a:r>
          </a:p>
          <a:p>
            <a:pPr lvl="1"/>
            <a:r>
              <a:rPr lang="fr-FR" dirty="0"/>
              <a:t>GitHub Pages, Azure Static Web Apps, S3 + CloudFront, Netlify…</a:t>
            </a:r>
          </a:p>
          <a:p>
            <a:pPr lvl="1"/>
            <a:r>
              <a:rPr lang="fr-FR" dirty="0"/>
              <a:t>Aucun runtime serveur requis (sauf proxy Copilot si activé)</a:t>
            </a:r>
          </a:p>
          <a:p>
            <a:pPr lvl="1"/>
            <a:r>
              <a:rPr lang="fr-FR" dirty="0"/>
              <a:t>Mode hash router → pas de configuration 404 nécessaire</a:t>
            </a:r>
          </a:p>
        </p:txBody>
      </p:sp>
    </p:spTree>
    <p:clrMapOvr>
      <a:masterClrMapping/>
    </p:clrMapOvr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Forces et points de vigilance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Lecture DSI : architecture saine, mais limites structurelles à connaître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Forces</a:t>
            </a:r>
          </a:p>
          <a:p>
            <a:pPr lvl="1"/>
            <a:r>
              <a:rPr lang="fr-FR" dirty="0"/>
              <a:t>Souveraineté des données : aucune fuite réseau</a:t>
            </a:r>
          </a:p>
          <a:p>
            <a:pPr lvl="1"/>
            <a:r>
              <a:rPr lang="fr-FR" dirty="0"/>
              <a:t>Stack moderne et stable (React + Vite, écosystème mainstream)</a:t>
            </a:r>
          </a:p>
          <a:p>
            <a:pPr lvl="1"/>
            <a:r>
              <a:rPr lang="fr-FR" dirty="0"/>
              <a:t>Code organisé par feature, facilement extensible</a:t>
            </a:r>
          </a:p>
          <a:p>
            <a:pPr lvl="1"/>
            <a:r>
              <a:rPr lang="fr-FR" dirty="0"/>
              <a:t>Déploiement statique trivial, coûts d'hébergement quasi nuls</a:t>
            </a:r>
          </a:p>
          <a:p>
            <a:pPr lvl="0"/>
            <a:r>
              <a:rPr lang="fr-FR" dirty="0"/>
              <a:t>Points de vigilance</a:t>
            </a:r>
          </a:p>
          <a:p>
            <a:pPr lvl="1"/>
            <a:r>
              <a:rPr lang="fr-FR" dirty="0"/>
              <a:t>Aucune authentification active aujourd'hui (à activer avant prod)</a:t>
            </a:r>
          </a:p>
          <a:p>
            <a:pPr lvl="1"/>
            <a:r>
              <a:rPr lang="fr-FR" dirty="0"/>
              <a:t>Données mono-utilisateur (localStorage non partagé)</a:t>
            </a:r>
          </a:p>
          <a:p>
            <a:pPr lvl="1"/>
            <a:r>
              <a:rPr lang="fr-FR" dirty="0"/>
              <a:t>Quota localStorage limité (5-10 Mo par domaine)</a:t>
            </a:r>
          </a:p>
          <a:p>
            <a:pPr lvl="1"/>
            <a:r>
              <a:rPr lang="fr-FR" dirty="0"/>
              <a:t>mockData.js versionné dans le code → redéploiement requis pour MAJ</a:t>
            </a:r>
          </a:p>
        </p:txBody>
      </p:sp>
    </p:spTree>
    <p:clrMapOvr>
      <a:masterClrMapping/>
    </p:clrMapOvr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Pistes d'évolution recommandées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Évolutions classées par effort estimé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Effort faible (quelques jours)</a:t>
            </a:r>
          </a:p>
          <a:p>
            <a:pPr lvl="1"/>
            <a:r>
              <a:rPr lang="fr-FR" dirty="0"/>
              <a:t>Activation MSAL Azure AD → SSO Unicancer + traçabilité</a:t>
            </a:r>
          </a:p>
          <a:p>
            <a:pPr lvl="1"/>
            <a:r>
              <a:rPr lang="fr-FR" dirty="0"/>
              <a:t>Externalisation du proxy Copilot (Azure Function ou Cloud Run)</a:t>
            </a:r>
          </a:p>
          <a:p>
            <a:pPr lvl="0"/>
            <a:r>
              <a:rPr lang="fr-FR" dirty="0"/>
              <a:t>Effort moyen (2 à 4 semaines)</a:t>
            </a:r>
          </a:p>
          <a:p>
            <a:pPr lvl="1"/>
            <a:r>
              <a:rPr lang="fr-FR" dirty="0"/>
              <a:t>Backend léger (Azure Functions + Cosmos DB) pour le partage temps réel</a:t>
            </a:r>
          </a:p>
          <a:p>
            <a:pPr lvl="1"/>
            <a:r>
              <a:rPr lang="fr-FR" dirty="0"/>
              <a:t>Migration mockData vers une API REST (MAJ sans redéploiement)</a:t>
            </a:r>
          </a:p>
          <a:p>
            <a:pPr lvl="1"/>
            <a:r>
              <a:rPr lang="fr-FR" dirty="0"/>
              <a:t>Couverture de tests automatisés (Vitest + Playwright)</a:t>
            </a:r>
          </a:p>
          <a:p>
            <a:pPr lvl="0"/>
            <a:r>
              <a:rPr lang="fr-FR" dirty="0"/>
              <a:t>Effort élevé (1 à 2 mois)</a:t>
            </a:r>
          </a:p>
          <a:p>
            <a:pPr lvl="1"/>
            <a:r>
              <a:rPr lang="fr-FR" dirty="0"/>
              <a:t>Migration progressive vers TypeScript pour sécuriser les refactorings</a:t>
            </a:r>
          </a:p>
        </p:txBody>
      </p:sp>
    </p:spTree>
    <p:clrMapOvr>
      <a:masterClrMapping/>
    </p:clrMapOvr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re -->
      <p:sp>
        <p:nvSpPr>
          <p:cNvPr id="3" name="Titr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Merci</a:t>
            </a:r>
          </a:p>
        </p:txBody>
      </p:sp>
      <!-- Intro (orange, gras) -->
      <p:sp>
        <p:nvSpPr>
          <p:cNvPr id="11" name="Intro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fr-FR" dirty="0"/>
              <a:t>Questions, échanges, démonstration</a:t>
            </a:r>
          </a:p>
        </p:txBody>
      </p:sp>
      <!-- Corps bullets -->
      <p:sp>
        <p:nvSpPr>
          <p:cNvPr id="7" name="Corps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fr-FR" dirty="0"/>
              <a:t>Gaspar GOURRION-JOLY — DAAI</a:t>
            </a:r>
          </a:p>
          <a:p>
            <a:pPr lvl="0"/>
            <a:r>
              <a:rPr lang="fr-FR" dirty="0"/>
              <a:t>g-gourrion@unicancer.fr</a:t>
            </a:r>
          </a:p>
          <a:p>
            <a:pPr lvl="0"/>
            <a:r>
              <a:rPr lang="fr-FR" dirty="0"/>
              <a:t/>
            </a:r>
          </a:p>
          <a:p>
            <a:pPr lvl="0"/>
            <a:r>
              <a:rPr lang="fr-FR" dirty="0"/>
              <a:t>Code source : github.com/t-reuze/gestion-marches</a:t>
            </a:r>
          </a:p>
          <a:p>
            <a:pPr lvl="0"/>
            <a:r>
              <a:rPr lang="fr-FR" dirty="0"/>
              <a:t>Documentation détaillée : docs/ARCHITECTURE_DSI.html</a:t>
            </a:r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Unicancer">
  <a:themeElements>
    <a:clrScheme name="Unicancer_Couleurs">
      <a:dk1>
        <a:sysClr val="windowText" lastClr="000000"/>
      </a:dk1>
      <a:lt1>
        <a:sysClr val="window" lastClr="FFFFFF"/>
      </a:lt1>
      <a:dk2>
        <a:srgbClr val="AD0470"/>
      </a:dk2>
      <a:lt2>
        <a:srgbClr val="F1EFED"/>
      </a:lt2>
      <a:accent1>
        <a:srgbClr val="EA560D"/>
      </a:accent1>
      <a:accent2>
        <a:srgbClr val="6A1D58"/>
      </a:accent2>
      <a:accent3>
        <a:srgbClr val="0068A3"/>
      </a:accent3>
      <a:accent4>
        <a:srgbClr val="006A78"/>
      </a:accent4>
      <a:accent5>
        <a:srgbClr val="005847"/>
      </a:accent5>
      <a:accent6>
        <a:srgbClr val="74A220"/>
      </a:accent6>
      <a:hlink>
        <a:srgbClr val="EA560D"/>
      </a:hlink>
      <a:folHlink>
        <a:srgbClr val="EA560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36000" tIns="36000" rIns="36000" bIns="36000" rtlCol="0" anchor="ctr"/>
      <a:lstStyle>
        <a:defPPr algn="ctr">
          <a:defRPr sz="14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36000" tIns="0" rIns="3600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nicancer Diaporama Modèle v2.potx" id="{3D7230A7-D895-4D57-822A-A626E46993F6}" vid="{C32EFDB5-7292-4FB5-A32D-FF3C7B81677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Unicancer</Template>
  <TotalTime>15391</TotalTime>
  <Words>32</Words>
  <Application>Microsoft Office PowerPoint</Application>
  <PresentationFormat>Affichage à l'écran (4:3)</PresentationFormat>
  <Paragraphs>5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Ubuntu</vt:lpstr>
      <vt:lpstr>Unicancer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Mercier</dc:creator>
  <cp:lastModifiedBy>Gaspar GOURRION-JOLY</cp:lastModifiedBy>
  <cp:revision>209</cp:revision>
  <cp:lastPrinted>2020-02-19T08:02:53Z</cp:lastPrinted>
  <dcterms:created xsi:type="dcterms:W3CDTF">2020-02-19T06:10:22Z</dcterms:created>
  <dcterms:modified xsi:type="dcterms:W3CDTF">2026-04-20T08:33:29Z</dcterms:modified>
</cp:coreProperties>
</file>